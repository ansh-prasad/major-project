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61" r:id="rId5"/>
    <p:sldId id="262" r:id="rId6"/>
    <p:sldId id="263" r:id="rId7"/>
    <p:sldId id="260" r:id="rId8"/>
    <p:sldId id="259" r:id="rId9"/>
    <p:sldId id="264" r:id="rId10"/>
    <p:sldId id="266" r:id="rId11"/>
    <p:sldId id="267" r:id="rId12"/>
    <p:sldId id="268" r:id="rId13"/>
    <p:sldId id="269" r:id="rId14"/>
    <p:sldId id="265"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32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ABF4788-FEB1-40F5-AB20-E387B59AA904}"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3001885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BF4788-FEB1-40F5-AB20-E387B59AA904}"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170931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BF4788-FEB1-40F5-AB20-E387B59AA904}"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2576069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ABF4788-FEB1-40F5-AB20-E387B59AA904}"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83640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ABF4788-FEB1-40F5-AB20-E387B59AA904}" type="datetimeFigureOut">
              <a:rPr lang="en-IN" smtClean="0"/>
              <a:t>16-12-2024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1400710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ABF4788-FEB1-40F5-AB20-E387B59AA904}" type="datetimeFigureOut">
              <a:rPr lang="en-IN" smtClean="0"/>
              <a:t>16-12-2024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4178673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F4788-FEB1-40F5-AB20-E387B59AA904}" type="datetimeFigureOut">
              <a:rPr lang="en-IN" smtClean="0"/>
              <a:t>16-12-2024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28356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BF4788-FEB1-40F5-AB20-E387B59AA904}"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1124469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BF4788-FEB1-40F5-AB20-E387B59AA904}"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1885639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BF4788-FEB1-40F5-AB20-E387B59AA904}"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3594573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BF4788-FEB1-40F5-AB20-E387B59AA904}"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796B3E-054B-4F56-9A63-7792B7837706}" type="slidenum">
              <a:rPr lang="en-IN" smtClean="0"/>
              <a:t>‹#›</a:t>
            </a:fld>
            <a:endParaRPr lang="en-IN"/>
          </a:p>
        </p:txBody>
      </p:sp>
    </p:spTree>
    <p:extLst>
      <p:ext uri="{BB962C8B-B14F-4D97-AF65-F5344CB8AC3E}">
        <p14:creationId xmlns:p14="http://schemas.microsoft.com/office/powerpoint/2010/main" val="336861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BF4788-FEB1-40F5-AB20-E387B59AA904}" type="datetimeFigureOut">
              <a:rPr lang="en-IN" smtClean="0"/>
              <a:t>16-12-2024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796B3E-054B-4F56-9A63-7792B7837706}" type="slidenum">
              <a:rPr lang="en-IN" smtClean="0"/>
              <a:t>‹#›</a:t>
            </a:fld>
            <a:endParaRPr lang="en-IN"/>
          </a:p>
        </p:txBody>
      </p:sp>
    </p:spTree>
    <p:extLst>
      <p:ext uri="{BB962C8B-B14F-4D97-AF65-F5344CB8AC3E}">
        <p14:creationId xmlns:p14="http://schemas.microsoft.com/office/powerpoint/2010/main" val="2938460563"/>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76680" y="731520"/>
            <a:ext cx="9438640" cy="2631440"/>
          </a:xfrm>
        </p:spPr>
        <p:txBody>
          <a:bodyPr>
            <a:normAutofit/>
          </a:bodyPr>
          <a:lstStyle/>
          <a:p>
            <a:r>
              <a:rPr lang="en-US"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EARLY FAULT DETECTION IN SOLAR PV SYSTEMS USING MACHINE LEARNING</a:t>
            </a:r>
            <a:br>
              <a:rPr lang="en-US"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br>
            <a:r>
              <a:rPr lang="en-IN" sz="2400" dirty="0" smtClean="0">
                <a:solidFill>
                  <a:schemeClr val="accent4">
                    <a:lumMod val="60000"/>
                    <a:lumOff val="40000"/>
                  </a:schemeClr>
                </a:solidFill>
              </a:rPr>
              <a:t>ELECTRICAL ENGINEERING PROJECT</a:t>
            </a:r>
            <a:br>
              <a:rPr lang="en-IN" sz="2400" dirty="0" smtClean="0">
                <a:solidFill>
                  <a:schemeClr val="accent4">
                    <a:lumMod val="60000"/>
                    <a:lumOff val="40000"/>
                  </a:schemeClr>
                </a:solidFill>
              </a:rPr>
            </a:br>
            <a:r>
              <a:rPr lang="en-IN" sz="2400" dirty="0" smtClean="0">
                <a:solidFill>
                  <a:schemeClr val="accent4">
                    <a:lumMod val="60000"/>
                    <a:lumOff val="40000"/>
                  </a:schemeClr>
                </a:solidFill>
              </a:rPr>
              <a:t> EEM-705</a:t>
            </a:r>
            <a:br>
              <a:rPr lang="en-IN" sz="2400" dirty="0" smtClean="0">
                <a:solidFill>
                  <a:schemeClr val="accent4">
                    <a:lumMod val="60000"/>
                    <a:lumOff val="40000"/>
                  </a:schemeClr>
                </a:solidFill>
              </a:rPr>
            </a:br>
            <a:r>
              <a:rPr lang="en-IN" sz="2400" dirty="0" smtClean="0">
                <a:solidFill>
                  <a:schemeClr val="accent4">
                    <a:lumMod val="60000"/>
                    <a:lumOff val="40000"/>
                  </a:schemeClr>
                </a:solidFill>
              </a:rPr>
              <a:t/>
            </a:r>
            <a:br>
              <a:rPr lang="en-IN" sz="2400" dirty="0" smtClean="0">
                <a:solidFill>
                  <a:schemeClr val="accent4">
                    <a:lumMod val="60000"/>
                    <a:lumOff val="40000"/>
                  </a:schemeClr>
                </a:solidFill>
              </a:rPr>
            </a:br>
            <a:r>
              <a:rPr lang="en-IN" sz="2400" dirty="0" smtClean="0">
                <a:solidFill>
                  <a:schemeClr val="accent4">
                    <a:lumMod val="60000"/>
                    <a:lumOff val="40000"/>
                  </a:schemeClr>
                </a:solidFill>
              </a:rPr>
              <a:t> </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0" y="5886689"/>
            <a:ext cx="4206240" cy="1655762"/>
          </a:xfrm>
        </p:spPr>
        <p:txBody>
          <a:bodyPr/>
          <a:lstStyle/>
          <a:p>
            <a:pPr algn="l"/>
            <a:r>
              <a:rPr lang="en-US" dirty="0" smtClean="0">
                <a:solidFill>
                  <a:schemeClr val="accent4">
                    <a:lumMod val="60000"/>
                    <a:lumOff val="40000"/>
                  </a:schemeClr>
                </a:solidFill>
              </a:rPr>
              <a:t>Presented By: </a:t>
            </a:r>
            <a:r>
              <a:rPr lang="en-US" dirty="0" err="1" smtClean="0">
                <a:solidFill>
                  <a:schemeClr val="accent4">
                    <a:lumMod val="60000"/>
                    <a:lumOff val="40000"/>
                  </a:schemeClr>
                </a:solidFill>
              </a:rPr>
              <a:t>Ansh</a:t>
            </a:r>
            <a:r>
              <a:rPr lang="en-US" dirty="0" smtClean="0">
                <a:solidFill>
                  <a:schemeClr val="accent4">
                    <a:lumMod val="60000"/>
                    <a:lumOff val="40000"/>
                  </a:schemeClr>
                </a:solidFill>
              </a:rPr>
              <a:t> Prasad</a:t>
            </a:r>
          </a:p>
          <a:p>
            <a:pPr algn="l"/>
            <a:r>
              <a:rPr lang="en-US" dirty="0" smtClean="0">
                <a:solidFill>
                  <a:schemeClr val="accent4">
                    <a:lumMod val="60000"/>
                    <a:lumOff val="40000"/>
                  </a:schemeClr>
                </a:solidFill>
              </a:rPr>
              <a:t>                          </a:t>
            </a:r>
            <a:r>
              <a:rPr lang="en-US" dirty="0" err="1" smtClean="0">
                <a:solidFill>
                  <a:schemeClr val="accent4">
                    <a:lumMod val="60000"/>
                    <a:lumOff val="40000"/>
                  </a:schemeClr>
                </a:solidFill>
              </a:rPr>
              <a:t>Tanvi</a:t>
            </a:r>
            <a:r>
              <a:rPr lang="en-US" dirty="0" smtClean="0">
                <a:solidFill>
                  <a:schemeClr val="accent4">
                    <a:lumMod val="60000"/>
                    <a:lumOff val="40000"/>
                  </a:schemeClr>
                </a:solidFill>
              </a:rPr>
              <a:t>  Malik </a:t>
            </a:r>
            <a:endParaRPr lang="en-US" dirty="0">
              <a:solidFill>
                <a:schemeClr val="accent4">
                  <a:lumMod val="60000"/>
                  <a:lumOff val="40000"/>
                </a:schemeClr>
              </a:solidFill>
            </a:endParaRPr>
          </a:p>
        </p:txBody>
      </p:sp>
      <p:sp>
        <p:nvSpPr>
          <p:cNvPr id="5" name="TextBox 4"/>
          <p:cNvSpPr txBox="1"/>
          <p:nvPr/>
        </p:nvSpPr>
        <p:spPr>
          <a:xfrm>
            <a:off x="7366000" y="6345238"/>
            <a:ext cx="4826000" cy="738664"/>
          </a:xfrm>
          <a:prstGeom prst="rect">
            <a:avLst/>
          </a:prstGeom>
          <a:noFill/>
        </p:spPr>
        <p:txBody>
          <a:bodyPr wrap="square" rtlCol="0">
            <a:spAutoFit/>
          </a:bodyPr>
          <a:lstStyle/>
          <a:p>
            <a:r>
              <a:rPr lang="en-IN" sz="2400" dirty="0" smtClean="0">
                <a:solidFill>
                  <a:schemeClr val="accent4">
                    <a:lumMod val="60000"/>
                    <a:lumOff val="40000"/>
                  </a:schemeClr>
                </a:solidFill>
              </a:rPr>
              <a:t>Supervised </a:t>
            </a:r>
            <a:r>
              <a:rPr lang="en-IN" sz="2400" dirty="0" err="1" smtClean="0">
                <a:solidFill>
                  <a:schemeClr val="accent4">
                    <a:lumMod val="60000"/>
                    <a:lumOff val="40000"/>
                  </a:schemeClr>
                </a:solidFill>
              </a:rPr>
              <a:t>By:Prof</a:t>
            </a:r>
            <a:r>
              <a:rPr lang="en-IN" sz="2400" dirty="0" smtClean="0">
                <a:solidFill>
                  <a:schemeClr val="accent4">
                    <a:lumMod val="60000"/>
                    <a:lumOff val="40000"/>
                  </a:schemeClr>
                </a:solidFill>
              </a:rPr>
              <a:t>. G.S. </a:t>
            </a:r>
            <a:r>
              <a:rPr lang="en-IN" sz="2400" dirty="0" err="1" smtClean="0">
                <a:solidFill>
                  <a:schemeClr val="accent4">
                    <a:lumMod val="60000"/>
                    <a:lumOff val="40000"/>
                  </a:schemeClr>
                </a:solidFill>
              </a:rPr>
              <a:t>Sailesh</a:t>
            </a:r>
            <a:r>
              <a:rPr lang="en-IN" sz="2400" dirty="0" smtClean="0">
                <a:solidFill>
                  <a:schemeClr val="accent4">
                    <a:lumMod val="60000"/>
                    <a:lumOff val="40000"/>
                  </a:schemeClr>
                </a:solidFill>
              </a:rPr>
              <a:t> </a:t>
            </a:r>
            <a:r>
              <a:rPr lang="en-IN" sz="2400" dirty="0" err="1" smtClean="0">
                <a:solidFill>
                  <a:schemeClr val="accent4">
                    <a:lumMod val="60000"/>
                    <a:lumOff val="40000"/>
                  </a:schemeClr>
                </a:solidFill>
              </a:rPr>
              <a:t>Babu</a:t>
            </a:r>
            <a:r>
              <a:rPr lang="en-IN" sz="2400" dirty="0" smtClean="0">
                <a:solidFill>
                  <a:schemeClr val="accent4">
                    <a:lumMod val="60000"/>
                    <a:lumOff val="40000"/>
                  </a:schemeClr>
                </a:solidFill>
              </a:rPr>
              <a:t> </a:t>
            </a:r>
            <a:r>
              <a:rPr lang="en-IN" dirty="0" smtClean="0">
                <a:solidFill>
                  <a:schemeClr val="accent4">
                    <a:lumMod val="60000"/>
                    <a:lumOff val="40000"/>
                  </a:schemeClr>
                </a:solidFill>
              </a:rPr>
              <a:t/>
            </a:r>
            <a:br>
              <a:rPr lang="en-IN" dirty="0" smtClean="0">
                <a:solidFill>
                  <a:schemeClr val="accent4">
                    <a:lumMod val="60000"/>
                    <a:lumOff val="40000"/>
                  </a:schemeClr>
                </a:solidFill>
              </a:rPr>
            </a:br>
            <a:endParaRPr lang="en-IN" dirty="0"/>
          </a:p>
        </p:txBody>
      </p:sp>
    </p:spTree>
    <p:extLst>
      <p:ext uri="{BB962C8B-B14F-4D97-AF65-F5344CB8AC3E}">
        <p14:creationId xmlns:p14="http://schemas.microsoft.com/office/powerpoint/2010/main" val="4230023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1760" y="1168400"/>
            <a:ext cx="11968480" cy="1645920"/>
          </a:xfrm>
        </p:spPr>
        <p:txBody>
          <a:bodyPr>
            <a:normAutofit/>
          </a:bodyPr>
          <a:lstStyle/>
          <a:p>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Fault Detection and Optimization in Solar PV Systems</a:t>
            </a:r>
            <a:r>
              <a:rPr lang="en-IN" sz="2400" b="1" dirty="0" smtClean="0">
                <a:solidFill>
                  <a:schemeClr val="accent4">
                    <a:lumMod val="60000"/>
                    <a:lumOff val="40000"/>
                  </a:schemeClr>
                </a:solidFill>
                <a:latin typeface="Times New Roman" panose="02020603050405020304" pitchFamily="18" charset="0"/>
                <a:cs typeface="Times New Roman" panose="02020603050405020304" pitchFamily="18" charset="0"/>
              </a:rPr>
              <a:t/>
            </a:r>
            <a:br>
              <a:rPr lang="en-IN" sz="2400" b="1" dirty="0" smtClean="0">
                <a:solidFill>
                  <a:schemeClr val="accent4">
                    <a:lumMod val="60000"/>
                    <a:lumOff val="40000"/>
                  </a:schemeClr>
                </a:solidFill>
                <a:latin typeface="Times New Roman" panose="02020603050405020304" pitchFamily="18" charset="0"/>
                <a:cs typeface="Times New Roman" panose="02020603050405020304" pitchFamily="18" charset="0"/>
              </a:rPr>
            </a:br>
            <a:r>
              <a:rPr lang="en-IN" sz="2400" b="1" dirty="0" smtClean="0">
                <a:solidFill>
                  <a:schemeClr val="accent4">
                    <a:lumMod val="60000"/>
                    <a:lumOff val="40000"/>
                  </a:schemeClr>
                </a:solidFill>
                <a:latin typeface="Times New Roman" panose="02020603050405020304" pitchFamily="18" charset="0"/>
                <a:cs typeface="Times New Roman" panose="02020603050405020304" pitchFamily="18" charset="0"/>
              </a:rPr>
              <a:t/>
            </a:r>
            <a:br>
              <a:rPr lang="en-IN" sz="2400" b="1" dirty="0" smtClean="0">
                <a:solidFill>
                  <a:schemeClr val="accent4">
                    <a:lumMod val="60000"/>
                    <a:lumOff val="40000"/>
                  </a:schemeClr>
                </a:solidFill>
                <a:latin typeface="Times New Roman" panose="02020603050405020304" pitchFamily="18" charset="0"/>
                <a:cs typeface="Times New Roman" panose="02020603050405020304" pitchFamily="18" charset="0"/>
              </a:rPr>
            </a:br>
            <a:r>
              <a:rPr lang="en-IN" sz="2400" b="1" dirty="0" smtClean="0">
                <a:solidFill>
                  <a:schemeClr val="accent4">
                    <a:lumMod val="60000"/>
                    <a:lumOff val="40000"/>
                  </a:schemeClr>
                </a:solidFill>
                <a:latin typeface="Times New Roman" panose="02020603050405020304" pitchFamily="18" charset="0"/>
                <a:cs typeface="Times New Roman" panose="02020603050405020304" pitchFamily="18" charset="0"/>
              </a:rPr>
              <a:t> </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721360" y="2120217"/>
            <a:ext cx="1047495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Increasing global reliance on solar photovoltaic (PV) systems for sustainable energy production.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Challenges include energy losses, downtime, and maintenance costs caused by:</a:t>
            </a: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      Shading</a:t>
            </a: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soiling</a:t>
            </a: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inverter failures</a:t>
            </a: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wiring defects</a:t>
            </a: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Emphasis on the need for reliable fault detection and system optimization. </a:t>
            </a:r>
          </a:p>
        </p:txBody>
      </p:sp>
    </p:spTree>
    <p:extLst>
      <p:ext uri="{BB962C8B-B14F-4D97-AF65-F5344CB8AC3E}">
        <p14:creationId xmlns:p14="http://schemas.microsoft.com/office/powerpoint/2010/main" val="7757098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76680" y="1046481"/>
            <a:ext cx="9438640" cy="1737360"/>
          </a:xfrm>
        </p:spPr>
        <p:txBody>
          <a:bodyPr>
            <a:noAutofit/>
          </a:bodyPr>
          <a:lstStyle/>
          <a:p>
            <a:pPr algn="l"/>
            <a:r>
              <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rPr>
              <a:t>Limitations of Existing Methods</a:t>
            </a:r>
            <a: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
            </a:r>
            <a:b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br>
            <a: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
            </a:r>
            <a:b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br>
            <a: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 </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1376680" y="2187969"/>
            <a:ext cx="7534627" cy="2590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a:r>
              <a:rPr lang="en-US" b="1" dirty="0">
                <a:solidFill>
                  <a:schemeClr val="accent4">
                    <a:lumMod val="60000"/>
                    <a:lumOff val="40000"/>
                  </a:schemeClr>
                </a:solidFill>
                <a:latin typeface="Times New Roman" panose="02020603050405020304" pitchFamily="18" charset="0"/>
                <a:cs typeface="Times New Roman" panose="02020603050405020304" pitchFamily="18" charset="0"/>
              </a:rPr>
              <a:t>Traditional Approaches</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a:t>
            </a:r>
          </a:p>
          <a:p>
            <a:pPr marL="800100" lvl="1" indent="-342900" algn="l">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Manual inspections.</a:t>
            </a:r>
          </a:p>
          <a:p>
            <a:pPr marL="800100" lvl="1" indent="-342900" algn="l">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Basic monitoring systems.</a:t>
            </a:r>
          </a:p>
          <a:p>
            <a:pPr algn="l"/>
            <a:r>
              <a:rPr lang="en-US" b="1" dirty="0">
                <a:solidFill>
                  <a:schemeClr val="accent4">
                    <a:lumMod val="60000"/>
                    <a:lumOff val="40000"/>
                  </a:schemeClr>
                </a:solidFill>
                <a:latin typeface="Times New Roman" panose="02020603050405020304" pitchFamily="18" charset="0"/>
                <a:cs typeface="Times New Roman" panose="02020603050405020304" pitchFamily="18" charset="0"/>
              </a:rPr>
              <a:t>Key Issues</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a:t>
            </a:r>
          </a:p>
          <a:p>
            <a:pPr marL="800100" lvl="1" indent="-342900" algn="l">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Inability to detect faults promptly.</a:t>
            </a:r>
          </a:p>
          <a:p>
            <a:pPr marL="800100" lvl="1" indent="-342900" algn="l">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Ineffectiveness in dynamic and complex operational conditions.</a:t>
            </a:r>
          </a:p>
          <a:p>
            <a:pPr marL="800100" lvl="1" indent="-342900" algn="l">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Prolonged inefficiencies and higher operational costs.</a:t>
            </a:r>
          </a:p>
        </p:txBody>
      </p:sp>
    </p:spTree>
    <p:extLst>
      <p:ext uri="{BB962C8B-B14F-4D97-AF65-F5344CB8AC3E}">
        <p14:creationId xmlns:p14="http://schemas.microsoft.com/office/powerpoint/2010/main" val="3963214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92183" y="809847"/>
            <a:ext cx="9438640" cy="965200"/>
          </a:xfrm>
        </p:spPr>
        <p:txBody>
          <a:bodyPr>
            <a:normAutofit/>
          </a:bodyPr>
          <a:lstStyle/>
          <a:p>
            <a:pPr algn="l"/>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Performance of Machine Learning Algorithms </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5" name="Rectangle 3"/>
          <p:cNvSpPr>
            <a:spLocks noGrp="1" noChangeArrowheads="1"/>
          </p:cNvSpPr>
          <p:nvPr>
            <p:ph type="subTitle" idx="1"/>
          </p:nvPr>
        </p:nvSpPr>
        <p:spPr bwMode="auto">
          <a:xfrm>
            <a:off x="1312025" y="2264421"/>
            <a:ext cx="969772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Bef>
                <a:spcPct val="0"/>
              </a:spcBef>
              <a:spcAft>
                <a:spcPct val="0"/>
              </a:spcAft>
            </a:pPr>
            <a:r>
              <a:rPr lang="en-US" sz="2000" dirty="0" err="1">
                <a:solidFill>
                  <a:schemeClr val="accent4">
                    <a:lumMod val="60000"/>
                    <a:lumOff val="40000"/>
                  </a:schemeClr>
                </a:solidFill>
                <a:latin typeface="Times New Roman" panose="02020603050405020304" pitchFamily="18" charset="0"/>
                <a:cs typeface="Times New Roman" panose="02020603050405020304" pitchFamily="18" charset="0"/>
              </a:rPr>
              <a:t>Eshrag</a:t>
            </a:r>
            <a:r>
              <a:rPr lang="en-US" sz="2000" dirty="0">
                <a:solidFill>
                  <a:schemeClr val="accent4">
                    <a:lumMod val="60000"/>
                    <a:lumOff val="40000"/>
                  </a:schemeClr>
                </a:solidFill>
                <a:latin typeface="Times New Roman" panose="02020603050405020304" pitchFamily="18" charset="0"/>
                <a:cs typeface="Times New Roman" panose="02020603050405020304" pitchFamily="18" charset="0"/>
              </a:rPr>
              <a:t> A. </a:t>
            </a:r>
            <a:r>
              <a:rPr lang="en-US" sz="2000" dirty="0" err="1">
                <a:solidFill>
                  <a:schemeClr val="accent4">
                    <a:lumMod val="60000"/>
                    <a:lumOff val="40000"/>
                  </a:schemeClr>
                </a:solidFill>
                <a:latin typeface="Times New Roman" panose="02020603050405020304" pitchFamily="18" charset="0"/>
                <a:cs typeface="Times New Roman" panose="02020603050405020304" pitchFamily="18" charset="0"/>
              </a:rPr>
              <a:t>Refaee</a:t>
            </a:r>
            <a:r>
              <a:rPr lang="en-US" sz="2000" dirty="0">
                <a:solidFill>
                  <a:schemeClr val="accent4">
                    <a:lumMod val="60000"/>
                    <a:lumOff val="40000"/>
                  </a:schemeClr>
                </a:solidFill>
                <a:latin typeface="Times New Roman" panose="02020603050405020304" pitchFamily="18" charset="0"/>
                <a:cs typeface="Times New Roman" panose="02020603050405020304" pitchFamily="18" charset="0"/>
              </a:rPr>
              <a:t> et.al. Presented </a:t>
            </a:r>
            <a:r>
              <a:rPr lang="en-IN" sz="2000" dirty="0" smtClean="0">
                <a:solidFill>
                  <a:schemeClr val="accent4">
                    <a:lumMod val="60000"/>
                    <a:lumOff val="40000"/>
                  </a:schemeClr>
                </a:solidFill>
                <a:latin typeface="Times New Roman" panose="02020603050405020304" pitchFamily="18" charset="0"/>
                <a:cs typeface="Times New Roman" panose="02020603050405020304" pitchFamily="18" charset="0"/>
              </a:rPr>
              <a:t>models </a:t>
            </a:r>
            <a:r>
              <a:rPr lang="en-IN" sz="2000" dirty="0" err="1">
                <a:solidFill>
                  <a:schemeClr val="accent4">
                    <a:lumMod val="60000"/>
                    <a:lumOff val="40000"/>
                  </a:schemeClr>
                </a:solidFill>
                <a:latin typeface="Times New Roman" panose="02020603050405020304" pitchFamily="18" charset="0"/>
                <a:cs typeface="Times New Roman" panose="02020603050405020304" pitchFamily="18" charset="0"/>
              </a:rPr>
              <a:t>achievedthehighestperformanceatan</a:t>
            </a:r>
            <a:r>
              <a:rPr lang="en-IN" sz="2000" dirty="0">
                <a:solidFill>
                  <a:schemeClr val="accent4">
                    <a:lumMod val="60000"/>
                    <a:lumOff val="40000"/>
                  </a:schemeClr>
                </a:solidFill>
                <a:latin typeface="Times New Roman" panose="02020603050405020304" pitchFamily="18" charset="0"/>
                <a:cs typeface="Times New Roman" panose="02020603050405020304" pitchFamily="18" charset="0"/>
              </a:rPr>
              <a:t> accuracyscoreof98.85%and0.98 weighted F-score using theJ48modeltrained </a:t>
            </a:r>
            <a:r>
              <a:rPr lang="en-IN" sz="2000" dirty="0" err="1">
                <a:solidFill>
                  <a:schemeClr val="accent4">
                    <a:lumMod val="60000"/>
                    <a:lumOff val="40000"/>
                  </a:schemeClr>
                </a:solidFill>
                <a:latin typeface="Times New Roman" panose="02020603050405020304" pitchFamily="18" charset="0"/>
                <a:cs typeface="Times New Roman" panose="02020603050405020304" pitchFamily="18" charset="0"/>
              </a:rPr>
              <a:t>onapubliclyavailable</a:t>
            </a:r>
            <a:r>
              <a:rPr lang="en-IN" sz="2000" dirty="0">
                <a:solidFill>
                  <a:schemeClr val="accent4">
                    <a:lumMod val="60000"/>
                    <a:lumOff val="40000"/>
                  </a:schemeClr>
                </a:solidFill>
                <a:latin typeface="Times New Roman" panose="02020603050405020304" pitchFamily="18" charset="0"/>
                <a:cs typeface="Times New Roman" panose="02020603050405020304" pitchFamily="18" charset="0"/>
              </a:rPr>
              <a:t> </a:t>
            </a:r>
            <a:r>
              <a:rPr lang="en-IN" sz="2000" dirty="0" err="1">
                <a:solidFill>
                  <a:schemeClr val="accent4">
                    <a:lumMod val="60000"/>
                    <a:lumOff val="40000"/>
                  </a:schemeClr>
                </a:solidFill>
                <a:latin typeface="Times New Roman" panose="02020603050405020304" pitchFamily="18" charset="0"/>
                <a:cs typeface="Times New Roman" panose="02020603050405020304" pitchFamily="18" charset="0"/>
              </a:rPr>
              <a:t>datasetof</a:t>
            </a:r>
            <a:r>
              <a:rPr lang="en-IN" sz="2000" dirty="0">
                <a:solidFill>
                  <a:schemeClr val="accent4">
                    <a:lumMod val="60000"/>
                    <a:lumOff val="40000"/>
                  </a:schemeClr>
                </a:solidFill>
                <a:latin typeface="Times New Roman" panose="02020603050405020304" pitchFamily="18" charset="0"/>
                <a:cs typeface="Times New Roman" panose="02020603050405020304" pitchFamily="18" charset="0"/>
              </a:rPr>
              <a:t> 874instances collected from 26differentsites across Saudi.</a:t>
            </a:r>
            <a:endParaRPr kumimoji="0" lang="en-US" altLang="en-US" sz="2000"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577566" y="3632050"/>
            <a:ext cx="9166638" cy="1937477"/>
          </a:xfrm>
          <a:prstGeom prst="rect">
            <a:avLst/>
          </a:prstGeom>
        </p:spPr>
      </p:pic>
    </p:spTree>
    <p:extLst>
      <p:ext uri="{BB962C8B-B14F-4D97-AF65-F5344CB8AC3E}">
        <p14:creationId xmlns:p14="http://schemas.microsoft.com/office/powerpoint/2010/main" val="38752069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92183" y="809847"/>
            <a:ext cx="9438640" cy="965200"/>
          </a:xfrm>
        </p:spPr>
        <p:txBody>
          <a:bodyPr>
            <a:normAutofit/>
          </a:bodyPr>
          <a:lstStyle/>
          <a:p>
            <a:pPr algn="l"/>
            <a:r>
              <a:rPr lang="en-US" sz="3600" dirty="0">
                <a:solidFill>
                  <a:schemeClr val="accent4">
                    <a:lumMod val="60000"/>
                    <a:lumOff val="40000"/>
                  </a:schemeClr>
                </a:solidFill>
                <a:latin typeface="Times New Roman" panose="02020603050405020304" pitchFamily="18" charset="0"/>
                <a:cs typeface="Times New Roman" panose="02020603050405020304" pitchFamily="18" charset="0"/>
              </a:rPr>
              <a:t>Role of Deep Learning Models</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5" name="Rectangle 3"/>
          <p:cNvSpPr>
            <a:spLocks noGrp="1" noChangeArrowheads="1"/>
          </p:cNvSpPr>
          <p:nvPr>
            <p:ph type="subTitle" idx="1"/>
          </p:nvPr>
        </p:nvSpPr>
        <p:spPr bwMode="auto">
          <a:xfrm>
            <a:off x="1192183" y="1932189"/>
            <a:ext cx="969772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Bef>
                <a:spcPct val="0"/>
              </a:spcBef>
              <a:spcAft>
                <a:spcPct val="0"/>
              </a:spcAft>
            </a:pPr>
            <a:r>
              <a:rPr lang="en-US" dirty="0" err="1">
                <a:solidFill>
                  <a:schemeClr val="accent4">
                    <a:lumMod val="60000"/>
                    <a:lumOff val="40000"/>
                  </a:schemeClr>
                </a:solidFill>
                <a:latin typeface="Times New Roman" panose="02020603050405020304" pitchFamily="18" charset="0"/>
                <a:cs typeface="Times New Roman" panose="02020603050405020304" pitchFamily="18" charset="0"/>
              </a:rPr>
              <a:t>Veerapandiyan</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 </a:t>
            </a:r>
            <a:r>
              <a:rPr lang="en-US" dirty="0" err="1">
                <a:solidFill>
                  <a:schemeClr val="accent4">
                    <a:lumMod val="60000"/>
                    <a:lumOff val="40000"/>
                  </a:schemeClr>
                </a:solidFill>
                <a:latin typeface="Times New Roman" panose="02020603050405020304" pitchFamily="18" charset="0"/>
                <a:cs typeface="Times New Roman" panose="02020603050405020304" pitchFamily="18" charset="0"/>
              </a:rPr>
              <a:t>Veerasamy</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 et.al. Presented Deep learning methods such as CNN and LSTM also exhibit strong performance. The proposed LSTM classifier achieved an overall classification accuracy of 91.21% with a success rate of 92.42% in identifying high impedance faults (HIF). The robustness of the LSTM model is validated through high kappa statistics, precision, recall, and F-measure scores, making it a reliable choice for dynamic fault detection. [2]</a:t>
            </a:r>
            <a:endPar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5658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92183" y="809847"/>
            <a:ext cx="9438640" cy="965200"/>
          </a:xfrm>
        </p:spPr>
        <p:txBody>
          <a:bodyPr>
            <a:normAutofit/>
          </a:bodyPr>
          <a:lstStyle/>
          <a:p>
            <a:pPr algn="l"/>
            <a:r>
              <a:rPr lang="en-IN" sz="3600" dirty="0">
                <a:solidFill>
                  <a:schemeClr val="accent4">
                    <a:lumMod val="60000"/>
                    <a:lumOff val="40000"/>
                  </a:schemeClr>
                </a:solidFill>
                <a:latin typeface="Times New Roman" panose="02020603050405020304" pitchFamily="18" charset="0"/>
                <a:cs typeface="Times New Roman" panose="02020603050405020304" pitchFamily="18" charset="0"/>
              </a:rPr>
              <a:t>Impact of Data Granularity</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5" name="Rectangle 3"/>
          <p:cNvSpPr>
            <a:spLocks noGrp="1" noChangeArrowheads="1"/>
          </p:cNvSpPr>
          <p:nvPr>
            <p:ph type="subTitle" idx="1"/>
          </p:nvPr>
        </p:nvSpPr>
        <p:spPr bwMode="auto">
          <a:xfrm>
            <a:off x="1192183" y="2089145"/>
            <a:ext cx="969772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Bef>
                <a:spcPct val="0"/>
              </a:spcBef>
              <a:spcAft>
                <a:spcPct val="0"/>
              </a:spcAft>
            </a:pPr>
            <a:r>
              <a:rPr lang="en-US" dirty="0" err="1">
                <a:solidFill>
                  <a:schemeClr val="accent4">
                    <a:lumMod val="60000"/>
                    <a:lumOff val="40000"/>
                  </a:schemeClr>
                </a:solidFill>
                <a:latin typeface="Times New Roman" panose="02020603050405020304" pitchFamily="18" charset="0"/>
                <a:cs typeface="Times New Roman" panose="02020603050405020304" pitchFamily="18" charset="0"/>
              </a:rPr>
              <a:t>Radu</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 </a:t>
            </a:r>
            <a:r>
              <a:rPr lang="en-US" dirty="0" err="1">
                <a:solidFill>
                  <a:schemeClr val="accent4">
                    <a:lumMod val="60000"/>
                    <a:lumOff val="40000"/>
                  </a:schemeClr>
                </a:solidFill>
                <a:latin typeface="Times New Roman" panose="02020603050405020304" pitchFamily="18" charset="0"/>
                <a:cs typeface="Times New Roman" panose="02020603050405020304" pitchFamily="18" charset="0"/>
              </a:rPr>
              <a:t>Platon</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 et.al. highlights the significance of temporal granularity in achieving a high fault-detection accuracy. Models trained on hourly average data outperform those using 10 minute intervals, indicating that reducing noise in the data improves detection rates. Additionally, segmenting the data based on irradiance intervals led to detection rates exceeding 90%, further validating this approach.[3]</a:t>
            </a:r>
            <a:endPar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25565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06220" y="1265382"/>
            <a:ext cx="9438640" cy="1248574"/>
          </a:xfrm>
        </p:spPr>
        <p:txBody>
          <a:bodyPr>
            <a:normAutofit/>
          </a:bodyPr>
          <a:lstStyle/>
          <a:p>
            <a:pPr algn="l"/>
            <a: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(Objective)</a:t>
            </a:r>
            <a:br>
              <a:rPr lang="en-IN"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br>
            <a:r>
              <a:rPr lang="en-IN" sz="1300" b="1" dirty="0" smtClean="0">
                <a:solidFill>
                  <a:schemeClr val="accent4">
                    <a:lumMod val="60000"/>
                    <a:lumOff val="40000"/>
                  </a:schemeClr>
                </a:solidFill>
                <a:latin typeface="Times New Roman" panose="02020603050405020304" pitchFamily="18" charset="0"/>
                <a:cs typeface="Times New Roman" panose="02020603050405020304" pitchFamily="18" charset="0"/>
              </a:rPr>
              <a:t>System </a:t>
            </a:r>
            <a:r>
              <a:rPr lang="en-IN" sz="1300" b="1" dirty="0">
                <a:solidFill>
                  <a:schemeClr val="accent4">
                    <a:lumMod val="60000"/>
                    <a:lumOff val="40000"/>
                  </a:schemeClr>
                </a:solidFill>
                <a:latin typeface="Times New Roman" panose="02020603050405020304" pitchFamily="18" charset="0"/>
                <a:cs typeface="Times New Roman" panose="02020603050405020304" pitchFamily="18" charset="0"/>
              </a:rPr>
              <a:t>Optimization Through Innovation</a:t>
            </a:r>
          </a:p>
        </p:txBody>
      </p:sp>
      <p:sp>
        <p:nvSpPr>
          <p:cNvPr id="5" name="Rectangle 3"/>
          <p:cNvSpPr>
            <a:spLocks noGrp="1" noChangeArrowheads="1"/>
          </p:cNvSpPr>
          <p:nvPr>
            <p:ph type="subTitle" idx="1"/>
          </p:nvPr>
        </p:nvSpPr>
        <p:spPr bwMode="auto">
          <a:xfrm>
            <a:off x="1376680" y="2513956"/>
            <a:ext cx="969772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Improved reliability of PV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Faster detection and resolution of faults.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Reduction in operational disruptions.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Lower maintenance costs through automation and</a:t>
            </a:r>
            <a:r>
              <a:rPr kumimoji="0" lang="en-US" altLang="en-US" b="0" i="0" u="none" strike="noStrike" cap="none" normalizeH="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smtClean="0">
                <a:ln>
                  <a:noFill/>
                </a:ln>
                <a:solidFill>
                  <a:schemeClr val="accent4">
                    <a:lumMod val="60000"/>
                    <a:lumOff val="40000"/>
                  </a:schemeClr>
                </a:solidFill>
                <a:effectLst/>
                <a:latin typeface="Times New Roman" panose="02020603050405020304" pitchFamily="18" charset="0"/>
                <a:cs typeface="Times New Roman" panose="02020603050405020304" pitchFamily="18" charset="0"/>
              </a:rPr>
              <a:t>prediction. </a:t>
            </a:r>
          </a:p>
        </p:txBody>
      </p:sp>
    </p:spTree>
    <p:extLst>
      <p:ext uri="{BB962C8B-B14F-4D97-AF65-F5344CB8AC3E}">
        <p14:creationId xmlns:p14="http://schemas.microsoft.com/office/powerpoint/2010/main" val="4471175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95680" y="1320800"/>
            <a:ext cx="10170160" cy="965200"/>
          </a:xfrm>
        </p:spPr>
        <p:txBody>
          <a:bodyPr>
            <a:noAutofit/>
          </a:bodyPr>
          <a:lstStyle/>
          <a:p>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Leveraging Data </a:t>
            </a:r>
            <a:r>
              <a:rPr lang="en-US"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Analytics </a:t>
            </a:r>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and Machine Learning</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1212972" y="2799906"/>
            <a:ext cx="8408548" cy="1908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Use of high-frequency operational data for fault detection.</a:t>
            </a:r>
          </a:p>
          <a:p>
            <a:pPr algn="just"/>
            <a:r>
              <a:rPr lang="en-US" b="1" dirty="0">
                <a:solidFill>
                  <a:schemeClr val="accent4">
                    <a:lumMod val="60000"/>
                    <a:lumOff val="40000"/>
                  </a:schemeClr>
                </a:solidFill>
                <a:latin typeface="Times New Roman" panose="02020603050405020304" pitchFamily="18" charset="0"/>
                <a:cs typeface="Times New Roman" panose="02020603050405020304" pitchFamily="18" charset="0"/>
              </a:rPr>
              <a:t>Machine Learning Advantages</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a:t>
            </a:r>
          </a:p>
          <a:p>
            <a:pPr marL="800100" lvl="1" indent="-342900" algn="just">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Predictive models for early fault detection.</a:t>
            </a:r>
          </a:p>
          <a:p>
            <a:pPr marL="800100" lvl="1" indent="-342900" algn="just">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Real-time analysis to identify fault patterns.</a:t>
            </a:r>
          </a:p>
          <a:p>
            <a:pPr marL="800100" lvl="1" indent="-342900" algn="just">
              <a:buFont typeface="Arial" panose="020B0604020202020204" pitchFamily="34" charset="0"/>
              <a:buChar char="•"/>
            </a:pP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Classification of system states for enhanced monitoring.</a:t>
            </a:r>
          </a:p>
        </p:txBody>
      </p:sp>
    </p:spTree>
    <p:extLst>
      <p:ext uri="{BB962C8B-B14F-4D97-AF65-F5344CB8AC3E}">
        <p14:creationId xmlns:p14="http://schemas.microsoft.com/office/powerpoint/2010/main" val="3773449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23389" y="535710"/>
            <a:ext cx="10170160" cy="965200"/>
          </a:xfrm>
        </p:spPr>
        <p:txBody>
          <a:bodyPr>
            <a:noAutofit/>
          </a:bodyPr>
          <a:lstStyle/>
          <a:p>
            <a:pPr algn="l"/>
            <a:r>
              <a:rPr lang="en-IN" sz="2800" b="1" dirty="0" smtClean="0">
                <a:solidFill>
                  <a:schemeClr val="accent4">
                    <a:lumMod val="60000"/>
                    <a:lumOff val="40000"/>
                  </a:schemeClr>
                </a:solidFill>
                <a:latin typeface="Times New Roman" panose="02020603050405020304" pitchFamily="18" charset="0"/>
                <a:cs typeface="Times New Roman" panose="02020603050405020304" pitchFamily="18" charset="0"/>
              </a:rPr>
              <a:t>Data collection </a:t>
            </a:r>
            <a:endPar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1023389" y="1517577"/>
            <a:ext cx="9565865"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solidFill>
                  <a:schemeClr val="accent4">
                    <a:lumMod val="60000"/>
                    <a:lumOff val="40000"/>
                  </a:schemeClr>
                </a:solidFill>
                <a:latin typeface="Times New Roman" panose="02020603050405020304" pitchFamily="18" charset="0"/>
                <a:cs typeface="Times New Roman" panose="02020603050405020304" pitchFamily="18" charset="0"/>
              </a:rPr>
              <a:t>Data was collected from a rooftop PV system installed at an educational institute, with a 40 </a:t>
            </a:r>
            <a:r>
              <a:rPr lang="en-US" sz="1800" dirty="0" err="1">
                <a:solidFill>
                  <a:schemeClr val="accent4">
                    <a:lumMod val="60000"/>
                    <a:lumOff val="40000"/>
                  </a:schemeClr>
                </a:solidFill>
                <a:latin typeface="Times New Roman" panose="02020603050405020304" pitchFamily="18" charset="0"/>
                <a:cs typeface="Times New Roman" panose="02020603050405020304" pitchFamily="18" charset="0"/>
              </a:rPr>
              <a:t>kWp</a:t>
            </a:r>
            <a:r>
              <a:rPr lang="en-US" sz="1800" dirty="0">
                <a:solidFill>
                  <a:schemeClr val="accent4">
                    <a:lumMod val="60000"/>
                    <a:lumOff val="40000"/>
                  </a:schemeClr>
                </a:solidFill>
                <a:latin typeface="Times New Roman" panose="02020603050405020304" pitchFamily="18" charset="0"/>
                <a:cs typeface="Times New Roman" panose="02020603050405020304" pitchFamily="18" charset="0"/>
              </a:rPr>
              <a:t> PV array integrated with battery storage and grid support. The dataset spans May 2022 to May 2023 and includes measurements taken at 10-minute intervals, </a:t>
            </a:r>
          </a:p>
        </p:txBody>
      </p:sp>
      <p:sp>
        <p:nvSpPr>
          <p:cNvPr id="3" name="TextBox 2"/>
          <p:cNvSpPr txBox="1"/>
          <p:nvPr/>
        </p:nvSpPr>
        <p:spPr>
          <a:xfrm>
            <a:off x="1023389" y="2807855"/>
            <a:ext cx="5163128" cy="523220"/>
          </a:xfrm>
          <a:prstGeom prst="rect">
            <a:avLst/>
          </a:prstGeom>
          <a:noFill/>
        </p:spPr>
        <p:txBody>
          <a:bodyPr wrap="square" rtlCol="0">
            <a:spAutoFit/>
          </a:bodyPr>
          <a:lstStyle/>
          <a:p>
            <a:r>
              <a:rPr lang="en-IN" sz="2800" b="1" dirty="0" smtClean="0">
                <a:solidFill>
                  <a:schemeClr val="accent4">
                    <a:lumMod val="60000"/>
                    <a:lumOff val="40000"/>
                  </a:schemeClr>
                </a:solidFill>
                <a:latin typeface="Times New Roman" panose="02020603050405020304" pitchFamily="18" charset="0"/>
                <a:cs typeface="Times New Roman" panose="02020603050405020304" pitchFamily="18" charset="0"/>
              </a:rPr>
              <a:t>Data Analysis</a:t>
            </a:r>
            <a:endPar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23389" y="3297805"/>
            <a:ext cx="9014691" cy="2031325"/>
          </a:xfrm>
          <a:prstGeom prst="rect">
            <a:avLst/>
          </a:prstGeom>
          <a:noFill/>
        </p:spPr>
        <p:txBody>
          <a:bodyPr wrap="square" rtlCol="0">
            <a:spAutoFit/>
          </a:bodyPr>
          <a:lstStyle/>
          <a:p>
            <a:r>
              <a:rPr lang="en-US" dirty="0" smtClean="0">
                <a:solidFill>
                  <a:schemeClr val="accent4">
                    <a:lumMod val="60000"/>
                    <a:lumOff val="40000"/>
                  </a:schemeClr>
                </a:solidFill>
                <a:latin typeface="Times New Roman" panose="02020603050405020304" pitchFamily="18" charset="0"/>
                <a:cs typeface="Times New Roman" panose="02020603050405020304" pitchFamily="18" charset="0"/>
              </a:rPr>
              <a:t>In our data analysis, we aim to comprehensively evaluate the performance and behavior of the solar energy system over the course of a year, focusing on the following key aspects: </a:t>
            </a:r>
          </a:p>
          <a:p>
            <a:endParaRPr lang="en-US" dirty="0">
              <a:solidFill>
                <a:schemeClr val="accent4">
                  <a:lumMod val="60000"/>
                  <a:lumOff val="4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smtClean="0">
                <a:solidFill>
                  <a:schemeClr val="accent4">
                    <a:lumMod val="60000"/>
                    <a:lumOff val="40000"/>
                  </a:schemeClr>
                </a:solidFill>
                <a:latin typeface="Times New Roman" panose="02020603050405020304" pitchFamily="18" charset="0"/>
                <a:cs typeface="Times New Roman" panose="02020603050405020304" pitchFamily="18" charset="0"/>
              </a:rPr>
              <a:t>Energy Generation Analysis</a:t>
            </a:r>
          </a:p>
          <a:p>
            <a:pPr marL="285750" indent="-285750">
              <a:buFont typeface="Arial" panose="020B0604020202020204" pitchFamily="34" charset="0"/>
              <a:buChar char="•"/>
            </a:pPr>
            <a:r>
              <a:rPr lang="en-IN" dirty="0" smtClean="0">
                <a:solidFill>
                  <a:schemeClr val="accent4">
                    <a:lumMod val="60000"/>
                    <a:lumOff val="40000"/>
                  </a:schemeClr>
                </a:solidFill>
                <a:latin typeface="Times New Roman" panose="02020603050405020304" pitchFamily="18" charset="0"/>
                <a:cs typeface="Times New Roman" panose="02020603050405020304" pitchFamily="18" charset="0"/>
              </a:rPr>
              <a:t>Solar Irradiation Trends</a:t>
            </a:r>
          </a:p>
          <a:p>
            <a:pPr marL="285750" indent="-285750">
              <a:buFont typeface="Arial" panose="020B0604020202020204" pitchFamily="34" charset="0"/>
              <a:buChar char="•"/>
            </a:pPr>
            <a:r>
              <a:rPr lang="en-IN" dirty="0" smtClean="0">
                <a:solidFill>
                  <a:schemeClr val="accent4">
                    <a:lumMod val="60000"/>
                    <a:lumOff val="40000"/>
                  </a:schemeClr>
                </a:solidFill>
                <a:latin typeface="Times New Roman" panose="02020603050405020304" pitchFamily="18" charset="0"/>
                <a:cs typeface="Times New Roman" panose="02020603050405020304" pitchFamily="18" charset="0"/>
              </a:rPr>
              <a:t>Battery Import/Export Dynamics</a:t>
            </a:r>
          </a:p>
          <a:p>
            <a:pPr marL="285750" indent="-285750">
              <a:buFont typeface="Arial" panose="020B0604020202020204" pitchFamily="34" charset="0"/>
              <a:buChar char="•"/>
            </a:pPr>
            <a:r>
              <a:rPr lang="en-IN" dirty="0" smtClean="0">
                <a:solidFill>
                  <a:schemeClr val="accent4">
                    <a:lumMod val="60000"/>
                    <a:lumOff val="40000"/>
                  </a:schemeClr>
                </a:solidFill>
                <a:latin typeface="Times New Roman" panose="02020603050405020304" pitchFamily="18" charset="0"/>
                <a:cs typeface="Times New Roman" panose="02020603050405020304" pitchFamily="18" charset="0"/>
              </a:rPr>
              <a:t>Load vs. Solar Generation Performance</a:t>
            </a:r>
            <a:endParaRPr lang="en-IN"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36330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23389" y="277092"/>
            <a:ext cx="10170160" cy="965200"/>
          </a:xfrm>
        </p:spPr>
        <p:txBody>
          <a:bodyPr>
            <a:noAutofit/>
          </a:bodyPr>
          <a:lstStyle/>
          <a:p>
            <a:pPr algn="l"/>
            <a:r>
              <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rPr>
              <a:t>Monthly energy yield</a:t>
            </a:r>
          </a:p>
        </p:txBody>
      </p:sp>
      <p:sp>
        <p:nvSpPr>
          <p:cNvPr id="6" name="Rectangle 2"/>
          <p:cNvSpPr>
            <a:spLocks noGrp="1" noChangeArrowheads="1"/>
          </p:cNvSpPr>
          <p:nvPr>
            <p:ph type="subTitle" idx="1"/>
          </p:nvPr>
        </p:nvSpPr>
        <p:spPr bwMode="auto">
          <a:xfrm>
            <a:off x="1023389" y="1425531"/>
            <a:ext cx="10309629" cy="1217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800" dirty="0">
                <a:solidFill>
                  <a:schemeClr val="accent4">
                    <a:lumMod val="60000"/>
                    <a:lumOff val="40000"/>
                  </a:schemeClr>
                </a:solidFill>
                <a:latin typeface="Times New Roman" panose="02020603050405020304" pitchFamily="18" charset="0"/>
                <a:cs typeface="Times New Roman" panose="02020603050405020304" pitchFamily="18" charset="0"/>
              </a:rPr>
              <a:t>Higher energy yields were observed in June and May, while February, March, July, and August also saw a larger share of energy production. </a:t>
            </a:r>
            <a:endParaRPr lang="en-US" sz="1800" dirty="0" smtClean="0">
              <a:solidFill>
                <a:schemeClr val="accent4">
                  <a:lumMod val="60000"/>
                  <a:lumOff val="40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accent4">
                    <a:lumMod val="60000"/>
                    <a:lumOff val="40000"/>
                  </a:schemeClr>
                </a:solidFill>
                <a:latin typeface="Times New Roman" panose="02020603050405020304" pitchFamily="18" charset="0"/>
                <a:cs typeface="Times New Roman" panose="02020603050405020304" pitchFamily="18" charset="0"/>
              </a:rPr>
              <a:t>favorable conditions such as moderate cell temperatures (ranging from 27°C to 37°C) and cleaner modules in the later months compared to the earlier part of the year.</a:t>
            </a:r>
          </a:p>
        </p:txBody>
      </p:sp>
      <p:pic>
        <p:nvPicPr>
          <p:cNvPr id="3" name="Picture 2"/>
          <p:cNvPicPr>
            <a:picLocks noChangeAspect="1"/>
          </p:cNvPicPr>
          <p:nvPr/>
        </p:nvPicPr>
        <p:blipFill>
          <a:blip r:embed="rId3"/>
          <a:stretch>
            <a:fillRect/>
          </a:stretch>
        </p:blipFill>
        <p:spPr>
          <a:xfrm>
            <a:off x="2528382" y="2826539"/>
            <a:ext cx="6597145" cy="3502393"/>
          </a:xfrm>
          <a:prstGeom prst="rect">
            <a:avLst/>
          </a:prstGeom>
        </p:spPr>
      </p:pic>
    </p:spTree>
    <p:extLst>
      <p:ext uri="{BB962C8B-B14F-4D97-AF65-F5344CB8AC3E}">
        <p14:creationId xmlns:p14="http://schemas.microsoft.com/office/powerpoint/2010/main" val="23001165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23389" y="277092"/>
            <a:ext cx="10170160" cy="965200"/>
          </a:xfrm>
        </p:spPr>
        <p:txBody>
          <a:bodyPr>
            <a:noAutofit/>
          </a:bodyPr>
          <a:lstStyle/>
          <a:p>
            <a:pPr algn="l"/>
            <a:r>
              <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rPr>
              <a:t>Monthly average solar irradiation</a:t>
            </a:r>
          </a:p>
        </p:txBody>
      </p:sp>
      <p:sp>
        <p:nvSpPr>
          <p:cNvPr id="6" name="Rectangle 2"/>
          <p:cNvSpPr>
            <a:spLocks noGrp="1" noChangeArrowheads="1"/>
          </p:cNvSpPr>
          <p:nvPr>
            <p:ph type="subTitle" idx="1"/>
          </p:nvPr>
        </p:nvSpPr>
        <p:spPr bwMode="auto">
          <a:xfrm>
            <a:off x="1023389" y="1863599"/>
            <a:ext cx="10309629"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endParaRPr lang="en-US" sz="1800"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898812" y="2274970"/>
            <a:ext cx="7947152" cy="3876159"/>
          </a:xfrm>
          <a:prstGeom prst="rect">
            <a:avLst/>
          </a:prstGeom>
        </p:spPr>
      </p:pic>
    </p:spTree>
    <p:extLst>
      <p:ext uri="{BB962C8B-B14F-4D97-AF65-F5344CB8AC3E}">
        <p14:creationId xmlns:p14="http://schemas.microsoft.com/office/powerpoint/2010/main" val="42359409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23389" y="277092"/>
            <a:ext cx="10170160" cy="965200"/>
          </a:xfrm>
        </p:spPr>
        <p:txBody>
          <a:bodyPr>
            <a:noAutofit/>
          </a:bodyPr>
          <a:lstStyle/>
          <a:p>
            <a:pPr algn="l"/>
            <a:r>
              <a:rPr lang="en-US" sz="2800" b="1" dirty="0">
                <a:solidFill>
                  <a:schemeClr val="accent4">
                    <a:lumMod val="60000"/>
                    <a:lumOff val="40000"/>
                  </a:schemeClr>
                </a:solidFill>
                <a:latin typeface="Times New Roman" panose="02020603050405020304" pitchFamily="18" charset="0"/>
                <a:cs typeface="Times New Roman" panose="02020603050405020304" pitchFamily="18" charset="0"/>
              </a:rPr>
              <a:t>Monthly behavior of battery import/export.</a:t>
            </a:r>
            <a:endPar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1023389" y="1863599"/>
            <a:ext cx="10309629"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endParaRPr lang="en-US" sz="1800"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458011" y="1715817"/>
            <a:ext cx="8472653" cy="4407892"/>
          </a:xfrm>
          <a:prstGeom prst="rect">
            <a:avLst/>
          </a:prstGeom>
        </p:spPr>
      </p:pic>
    </p:spTree>
    <p:extLst>
      <p:ext uri="{BB962C8B-B14F-4D97-AF65-F5344CB8AC3E}">
        <p14:creationId xmlns:p14="http://schemas.microsoft.com/office/powerpoint/2010/main" val="2201539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23389" y="277092"/>
            <a:ext cx="10170160" cy="965200"/>
          </a:xfrm>
        </p:spPr>
        <p:txBody>
          <a:bodyPr>
            <a:noAutofit/>
          </a:bodyPr>
          <a:lstStyle/>
          <a:p>
            <a:pPr algn="l"/>
            <a:r>
              <a:rPr lang="en-US" sz="2800" dirty="0">
                <a:solidFill>
                  <a:schemeClr val="accent4">
                    <a:lumMod val="60000"/>
                    <a:lumOff val="40000"/>
                  </a:schemeClr>
                </a:solidFill>
                <a:latin typeface="Times New Roman" panose="02020603050405020304" pitchFamily="18" charset="0"/>
                <a:cs typeface="Times New Roman" panose="02020603050405020304" pitchFamily="18" charset="0"/>
              </a:rPr>
              <a:t>Monthly behavior of Solar radiation and Site</a:t>
            </a:r>
            <a:endPar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1023389" y="1863599"/>
            <a:ext cx="10309629"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endParaRPr lang="en-US" sz="1800"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305622" y="1619741"/>
            <a:ext cx="8632705" cy="4634308"/>
          </a:xfrm>
          <a:prstGeom prst="rect">
            <a:avLst/>
          </a:prstGeom>
        </p:spPr>
      </p:pic>
    </p:spTree>
    <p:extLst>
      <p:ext uri="{BB962C8B-B14F-4D97-AF65-F5344CB8AC3E}">
        <p14:creationId xmlns:p14="http://schemas.microsoft.com/office/powerpoint/2010/main" val="17602048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23389" y="277092"/>
            <a:ext cx="10170160" cy="965200"/>
          </a:xfrm>
        </p:spPr>
        <p:txBody>
          <a:bodyPr>
            <a:noAutofit/>
          </a:bodyPr>
          <a:lstStyle/>
          <a:p>
            <a:pPr algn="l"/>
            <a:r>
              <a:rPr lang="en-IN" sz="2800" b="1" dirty="0">
                <a:solidFill>
                  <a:schemeClr val="accent4">
                    <a:lumMod val="60000"/>
                    <a:lumOff val="40000"/>
                  </a:schemeClr>
                </a:solidFill>
                <a:latin typeface="Times New Roman" panose="02020603050405020304" pitchFamily="18" charset="0"/>
                <a:cs typeface="Times New Roman" panose="02020603050405020304" pitchFamily="18" charset="0"/>
              </a:rPr>
              <a:t>Classification Framework </a:t>
            </a:r>
          </a:p>
        </p:txBody>
      </p:sp>
      <p:sp>
        <p:nvSpPr>
          <p:cNvPr id="6" name="Rectangle 2"/>
          <p:cNvSpPr>
            <a:spLocks noGrp="1" noChangeArrowheads="1"/>
          </p:cNvSpPr>
          <p:nvPr>
            <p:ph type="subTitle" idx="1"/>
          </p:nvPr>
        </p:nvSpPr>
        <p:spPr bwMode="auto">
          <a:xfrm>
            <a:off x="1023389" y="1357451"/>
            <a:ext cx="10309629" cy="222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1800" dirty="0">
                <a:solidFill>
                  <a:schemeClr val="accent4">
                    <a:lumMod val="60000"/>
                    <a:lumOff val="40000"/>
                  </a:schemeClr>
                </a:solidFill>
                <a:latin typeface="Times New Roman" panose="02020603050405020304" pitchFamily="18" charset="0"/>
                <a:cs typeface="Times New Roman" panose="02020603050405020304" pitchFamily="18" charset="0"/>
              </a:rPr>
              <a:t>Define operational classes based on normalized DNI values: </a:t>
            </a:r>
            <a:endParaRPr lang="en-IN" sz="1800" dirty="0" smtClean="0">
              <a:solidFill>
                <a:schemeClr val="accent4">
                  <a:lumMod val="60000"/>
                  <a:lumOff val="40000"/>
                </a:schemeClr>
              </a:solidFill>
              <a:latin typeface="Times New Roman" panose="02020603050405020304" pitchFamily="18" charset="0"/>
              <a:cs typeface="Times New Roman" panose="02020603050405020304" pitchFamily="18" charset="0"/>
            </a:endParaRPr>
          </a:p>
          <a:p>
            <a:pPr algn="just"/>
            <a:r>
              <a:rPr lang="en-IN" sz="1800" dirty="0" smtClean="0">
                <a:solidFill>
                  <a:schemeClr val="accent4">
                    <a:lumMod val="60000"/>
                    <a:lumOff val="40000"/>
                  </a:schemeClr>
                </a:solidFill>
                <a:latin typeface="Times New Roman" panose="02020603050405020304" pitchFamily="18" charset="0"/>
                <a:cs typeface="Times New Roman" panose="02020603050405020304" pitchFamily="18" charset="0"/>
              </a:rPr>
              <a:t> </a:t>
            </a:r>
            <a:r>
              <a:rPr lang="en-IN" sz="1800" dirty="0">
                <a:solidFill>
                  <a:schemeClr val="accent4">
                    <a:lumMod val="60000"/>
                    <a:lumOff val="40000"/>
                  </a:schemeClr>
                </a:solidFill>
                <a:latin typeface="Times New Roman" panose="02020603050405020304" pitchFamily="18" charset="0"/>
                <a:cs typeface="Times New Roman" panose="02020603050405020304" pitchFamily="18" charset="0"/>
              </a:rPr>
              <a:t>Class 1 - Running (Green Zone): Normalized DNI (Norm DNI) &gt; 0.7, indicating optimal solar system performance. </a:t>
            </a:r>
            <a:endParaRPr lang="en-IN" sz="1800" dirty="0" smtClean="0">
              <a:solidFill>
                <a:schemeClr val="accent4">
                  <a:lumMod val="60000"/>
                  <a:lumOff val="40000"/>
                </a:schemeClr>
              </a:solidFill>
              <a:latin typeface="Times New Roman" panose="02020603050405020304" pitchFamily="18" charset="0"/>
              <a:cs typeface="Times New Roman" panose="02020603050405020304" pitchFamily="18" charset="0"/>
            </a:endParaRPr>
          </a:p>
          <a:p>
            <a:pPr algn="just"/>
            <a:r>
              <a:rPr lang="en-IN" sz="1800" dirty="0" smtClean="0">
                <a:solidFill>
                  <a:schemeClr val="accent4">
                    <a:lumMod val="60000"/>
                    <a:lumOff val="40000"/>
                  </a:schemeClr>
                </a:solidFill>
                <a:latin typeface="Times New Roman" panose="02020603050405020304" pitchFamily="18" charset="0"/>
                <a:cs typeface="Times New Roman" panose="02020603050405020304" pitchFamily="18" charset="0"/>
              </a:rPr>
              <a:t> </a:t>
            </a:r>
            <a:r>
              <a:rPr lang="en-IN" sz="1800" dirty="0">
                <a:solidFill>
                  <a:schemeClr val="accent4">
                    <a:lumMod val="60000"/>
                    <a:lumOff val="40000"/>
                  </a:schemeClr>
                </a:solidFill>
                <a:latin typeface="Times New Roman" panose="02020603050405020304" pitchFamily="18" charset="0"/>
                <a:cs typeface="Times New Roman" panose="02020603050405020304" pitchFamily="18" charset="0"/>
              </a:rPr>
              <a:t>Class 2 - Monitoring (Orange Zone): 0.3 ≤ Norm DNI ≤ 0.7, suggesting potential issues requiring closer observation. </a:t>
            </a:r>
            <a:endParaRPr lang="en-IN" sz="1800" dirty="0" smtClean="0">
              <a:solidFill>
                <a:schemeClr val="accent4">
                  <a:lumMod val="60000"/>
                  <a:lumOff val="40000"/>
                </a:schemeClr>
              </a:solidFill>
              <a:latin typeface="Times New Roman" panose="02020603050405020304" pitchFamily="18" charset="0"/>
              <a:cs typeface="Times New Roman" panose="02020603050405020304" pitchFamily="18" charset="0"/>
            </a:endParaRPr>
          </a:p>
          <a:p>
            <a:pPr algn="just"/>
            <a:r>
              <a:rPr lang="en-IN" sz="1800" dirty="0" smtClean="0">
                <a:solidFill>
                  <a:schemeClr val="accent4">
                    <a:lumMod val="60000"/>
                    <a:lumOff val="40000"/>
                  </a:schemeClr>
                </a:solidFill>
                <a:latin typeface="Times New Roman" panose="02020603050405020304" pitchFamily="18" charset="0"/>
                <a:cs typeface="Times New Roman" panose="02020603050405020304" pitchFamily="18" charset="0"/>
              </a:rPr>
              <a:t> </a:t>
            </a:r>
            <a:r>
              <a:rPr lang="en-IN" sz="1800" dirty="0">
                <a:solidFill>
                  <a:schemeClr val="accent4">
                    <a:lumMod val="60000"/>
                    <a:lumOff val="40000"/>
                  </a:schemeClr>
                </a:solidFill>
                <a:latin typeface="Times New Roman" panose="02020603050405020304" pitchFamily="18" charset="0"/>
                <a:cs typeface="Times New Roman" panose="02020603050405020304" pitchFamily="18" charset="0"/>
              </a:rPr>
              <a:t>Class 3 - Inspecting (Red Zone): 0 ≤ Norm DNI &lt; 0.3, signalling a need for immediate inspection due to underperformance. </a:t>
            </a:r>
            <a:endParaRPr lang="en-US" sz="1800"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3089125" y="3694758"/>
            <a:ext cx="5810549" cy="2978303"/>
          </a:xfrm>
          <a:prstGeom prst="rect">
            <a:avLst/>
          </a:prstGeom>
        </p:spPr>
      </p:pic>
    </p:spTree>
    <p:extLst>
      <p:ext uri="{BB962C8B-B14F-4D97-AF65-F5344CB8AC3E}">
        <p14:creationId xmlns:p14="http://schemas.microsoft.com/office/powerpoint/2010/main" val="5314872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29297" y="729672"/>
            <a:ext cx="10170160" cy="965200"/>
          </a:xfrm>
        </p:spPr>
        <p:txBody>
          <a:bodyPr>
            <a:noAutofit/>
          </a:bodyPr>
          <a:lstStyle/>
          <a:p>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Machine Learning Model Training and Integration</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subTitle" idx="1"/>
          </p:nvPr>
        </p:nvSpPr>
        <p:spPr bwMode="auto">
          <a:xfrm>
            <a:off x="1037481" y="2009533"/>
            <a:ext cx="10061976" cy="2547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n-US" b="1" dirty="0">
                <a:solidFill>
                  <a:schemeClr val="accent4">
                    <a:lumMod val="60000"/>
                    <a:lumOff val="40000"/>
                  </a:schemeClr>
                </a:solidFill>
                <a:latin typeface="Times New Roman" panose="02020603050405020304" pitchFamily="18" charset="0"/>
                <a:cs typeface="Times New Roman" panose="02020603050405020304" pitchFamily="18" charset="0"/>
              </a:rPr>
              <a:t>Data Preparation: </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Pre-process the dataset further to ensure it is fully optimized for training, including feature scaling, handling any remaining missing values, and creating a balanced dataset for all operational classes. </a:t>
            </a:r>
          </a:p>
          <a:p>
            <a:pPr marL="342900" indent="-342900" algn="just">
              <a:buFont typeface="Arial" panose="020B0604020202020204" pitchFamily="34" charset="0"/>
              <a:buChar char="•"/>
            </a:pPr>
            <a:r>
              <a:rPr lang="en-US" b="1" dirty="0" smtClean="0">
                <a:solidFill>
                  <a:schemeClr val="accent4">
                    <a:lumMod val="60000"/>
                    <a:lumOff val="40000"/>
                  </a:schemeClr>
                </a:solidFill>
                <a:latin typeface="Times New Roman" panose="02020603050405020304" pitchFamily="18" charset="0"/>
                <a:cs typeface="Times New Roman" panose="02020603050405020304" pitchFamily="18" charset="0"/>
              </a:rPr>
              <a:t>Model </a:t>
            </a:r>
            <a:r>
              <a:rPr lang="en-US" b="1" dirty="0">
                <a:solidFill>
                  <a:schemeClr val="accent4">
                    <a:lumMod val="60000"/>
                    <a:lumOff val="40000"/>
                  </a:schemeClr>
                </a:solidFill>
                <a:latin typeface="Times New Roman" panose="02020603050405020304" pitchFamily="18" charset="0"/>
                <a:cs typeface="Times New Roman" panose="02020603050405020304" pitchFamily="18" charset="0"/>
              </a:rPr>
              <a:t>Training: </a:t>
            </a:r>
            <a:r>
              <a:rPr lang="en-US" dirty="0">
                <a:solidFill>
                  <a:schemeClr val="accent4">
                    <a:lumMod val="60000"/>
                    <a:lumOff val="40000"/>
                  </a:schemeClr>
                </a:solidFill>
                <a:latin typeface="Times New Roman" panose="02020603050405020304" pitchFamily="18" charset="0"/>
                <a:cs typeface="Times New Roman" panose="02020603050405020304" pitchFamily="18" charset="0"/>
              </a:rPr>
              <a:t>Train a supervised learning model, incorporating historical data with operational states. Utilize features such as Direct Normal Irradiance (DNI), panel temperature, and the rate of change of DNI to achieve high prediction accuracy.</a:t>
            </a:r>
          </a:p>
        </p:txBody>
      </p:sp>
    </p:spTree>
    <p:extLst>
      <p:ext uri="{BB962C8B-B14F-4D97-AF65-F5344CB8AC3E}">
        <p14:creationId xmlns:p14="http://schemas.microsoft.com/office/powerpoint/2010/main" val="2676085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29297" y="729672"/>
            <a:ext cx="10170160" cy="965200"/>
          </a:xfrm>
        </p:spPr>
        <p:txBody>
          <a:bodyPr>
            <a:noAutofit/>
          </a:bodyPr>
          <a:lstStyle/>
          <a:p>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Machine Learning </a:t>
            </a:r>
            <a:r>
              <a:rPr lang="en-US"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Model</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558" y="2752060"/>
            <a:ext cx="5252484" cy="3135812"/>
          </a:xfrm>
          <a:prstGeom prst="rect">
            <a:avLst/>
          </a:prstGeom>
        </p:spPr>
      </p:pic>
      <p:sp>
        <p:nvSpPr>
          <p:cNvPr id="9" name="Subtitle 8"/>
          <p:cNvSpPr>
            <a:spLocks noGrp="1"/>
          </p:cNvSpPr>
          <p:nvPr>
            <p:ph type="subTitle" idx="1"/>
          </p:nvPr>
        </p:nvSpPr>
        <p:spPr>
          <a:xfrm>
            <a:off x="1300716" y="1924179"/>
            <a:ext cx="9144000" cy="1655762"/>
          </a:xfrm>
        </p:spPr>
        <p:txBody>
          <a:bodyPr/>
          <a:lstStyle/>
          <a:p>
            <a:pPr algn="l"/>
            <a:r>
              <a:rPr lang="en-IN" b="1" dirty="0" smtClean="0"/>
              <a:t>ANN</a:t>
            </a:r>
          </a:p>
          <a:p>
            <a:pPr algn="l"/>
            <a:endParaRPr lang="en-IN" b="1" dirty="0" smtClean="0"/>
          </a:p>
          <a:p>
            <a:endParaRPr lang="en-IN" dirty="0"/>
          </a:p>
        </p:txBody>
      </p:sp>
    </p:spTree>
    <p:extLst>
      <p:ext uri="{BB962C8B-B14F-4D97-AF65-F5344CB8AC3E}">
        <p14:creationId xmlns:p14="http://schemas.microsoft.com/office/powerpoint/2010/main" val="15253051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29297" y="729672"/>
            <a:ext cx="10170160" cy="965200"/>
          </a:xfrm>
        </p:spPr>
        <p:txBody>
          <a:bodyPr>
            <a:noAutofit/>
          </a:bodyPr>
          <a:lstStyle/>
          <a:p>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Machine Learning </a:t>
            </a:r>
            <a:r>
              <a:rPr lang="en-US"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Model</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9" name="Subtitle 8"/>
          <p:cNvSpPr>
            <a:spLocks noGrp="1"/>
          </p:cNvSpPr>
          <p:nvPr>
            <p:ph type="subTitle" idx="1"/>
          </p:nvPr>
        </p:nvSpPr>
        <p:spPr>
          <a:xfrm>
            <a:off x="1300716" y="1924179"/>
            <a:ext cx="9144000" cy="1655762"/>
          </a:xfrm>
        </p:spPr>
        <p:txBody>
          <a:bodyPr/>
          <a:lstStyle/>
          <a:p>
            <a:pPr algn="l"/>
            <a:r>
              <a:rPr lang="en-IN" b="1" dirty="0" smtClean="0"/>
              <a:t>RNN</a:t>
            </a:r>
          </a:p>
          <a:p>
            <a:pPr algn="l"/>
            <a:endParaRPr lang="en-IN" b="1" dirty="0" smtClean="0"/>
          </a:p>
          <a:p>
            <a:endParaRPr lang="en-IN" dirty="0"/>
          </a:p>
        </p:txBody>
      </p:sp>
      <p:pic>
        <p:nvPicPr>
          <p:cNvPr id="2050" name="Picture 2" descr="RNN-vs-FN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370" y="2893754"/>
            <a:ext cx="6286500"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6511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29297" y="729672"/>
            <a:ext cx="10170160" cy="965200"/>
          </a:xfrm>
        </p:spPr>
        <p:txBody>
          <a:bodyPr>
            <a:noAutofit/>
          </a:bodyPr>
          <a:lstStyle/>
          <a:p>
            <a:r>
              <a:rPr lang="en-US" sz="3600" b="1" dirty="0">
                <a:solidFill>
                  <a:schemeClr val="accent4">
                    <a:lumMod val="60000"/>
                    <a:lumOff val="40000"/>
                  </a:schemeClr>
                </a:solidFill>
                <a:latin typeface="Times New Roman" panose="02020603050405020304" pitchFamily="18" charset="0"/>
                <a:cs typeface="Times New Roman" panose="02020603050405020304" pitchFamily="18" charset="0"/>
              </a:rPr>
              <a:t>Machine Learning </a:t>
            </a:r>
            <a:r>
              <a:rPr lang="en-US" sz="3600" b="1" dirty="0" smtClean="0">
                <a:solidFill>
                  <a:schemeClr val="accent4">
                    <a:lumMod val="60000"/>
                    <a:lumOff val="40000"/>
                  </a:schemeClr>
                </a:solidFill>
                <a:latin typeface="Times New Roman" panose="02020603050405020304" pitchFamily="18" charset="0"/>
                <a:cs typeface="Times New Roman" panose="02020603050405020304" pitchFamily="18" charset="0"/>
              </a:rPr>
              <a:t>Model</a:t>
            </a:r>
            <a:endParaRPr lang="en-IN" sz="3600" b="1"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sp>
        <p:nvSpPr>
          <p:cNvPr id="4" name="Subtitle 3"/>
          <p:cNvSpPr>
            <a:spLocks noGrp="1"/>
          </p:cNvSpPr>
          <p:nvPr>
            <p:ph type="subTitle" idx="1"/>
          </p:nvPr>
        </p:nvSpPr>
        <p:spPr/>
        <p:txBody>
          <a:bodyPr/>
          <a:lstStyle/>
          <a:p>
            <a:endParaRPr lang="en-IN"/>
          </a:p>
        </p:txBody>
      </p:sp>
      <p:pic>
        <p:nvPicPr>
          <p:cNvPr id="6" name="Picture 5"/>
          <p:cNvPicPr>
            <a:picLocks noChangeAspect="1"/>
          </p:cNvPicPr>
          <p:nvPr/>
        </p:nvPicPr>
        <p:blipFill>
          <a:blip r:embed="rId3"/>
          <a:stretch>
            <a:fillRect/>
          </a:stretch>
        </p:blipFill>
        <p:spPr>
          <a:xfrm>
            <a:off x="2554958" y="2330696"/>
            <a:ext cx="6918838" cy="3184862"/>
          </a:xfrm>
          <a:prstGeom prst="rect">
            <a:avLst/>
          </a:prstGeom>
        </p:spPr>
      </p:pic>
    </p:spTree>
    <p:extLst>
      <p:ext uri="{BB962C8B-B14F-4D97-AF65-F5344CB8AC3E}">
        <p14:creationId xmlns:p14="http://schemas.microsoft.com/office/powerpoint/2010/main" val="37133879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589</TotalTime>
  <Words>725</Words>
  <Application>Microsoft Office PowerPoint</Application>
  <PresentationFormat>Widescreen</PresentationFormat>
  <Paragraphs>64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EARLY FAULT DETECTION IN SOLAR PV SYSTEMS USING MACHINE LEARNING ELECTRICAL ENGINEERING PROJECT  EEM-705   </vt:lpstr>
      <vt:lpstr>Fault Detection and Optimization in Solar PV Systems   </vt:lpstr>
      <vt:lpstr>Limitations of Existing Methods   </vt:lpstr>
      <vt:lpstr>Performance of Machine Learning Algorithms </vt:lpstr>
      <vt:lpstr>Role of Deep Learning Models</vt:lpstr>
      <vt:lpstr>Impact of Data Granularity</vt:lpstr>
      <vt:lpstr>(Objective) System Optimization Through Innovation</vt:lpstr>
      <vt:lpstr>Leveraging Data Analytics and Machine Learning</vt:lpstr>
      <vt:lpstr>Data collection </vt:lpstr>
      <vt:lpstr>Monthly energy yield</vt:lpstr>
      <vt:lpstr>Monthly average solar irradiation</vt:lpstr>
      <vt:lpstr>Monthly behavior of battery import/export.</vt:lpstr>
      <vt:lpstr>Monthly behavior of Solar radiation and Site</vt:lpstr>
      <vt:lpstr>Classification Framework </vt:lpstr>
      <vt:lpstr>Machine Learning Model Training and Integration</vt:lpstr>
      <vt:lpstr>Machine Learning Model</vt:lpstr>
      <vt:lpstr>Machine Learning Model</vt:lpstr>
      <vt:lpstr>Machine Learning Model</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FAULT DETECTION IN SOLAR PV SYSTEMS USING MACHINE LEARNING ELECTRICAL ENGINEERING PROJECT  EEM-705</dc:title>
  <dc:creator>Microsoft account</dc:creator>
  <cp:lastModifiedBy>Microsoft account</cp:lastModifiedBy>
  <cp:revision>14</cp:revision>
  <dcterms:created xsi:type="dcterms:W3CDTF">2024-12-16T04:56:32Z</dcterms:created>
  <dcterms:modified xsi:type="dcterms:W3CDTF">2024-12-16T16:19:41Z</dcterms:modified>
</cp:coreProperties>
</file>